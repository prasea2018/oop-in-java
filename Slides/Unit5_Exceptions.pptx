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2" d="100"/>
          <a:sy n="92" d="100"/>
        </p:scale>
        <p:origin x="1534" y="6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Unit 5: Handling Errors &amp; Exceptions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BCA Third </a:t>
            </a:r>
            <a:r>
              <a:rPr dirty="0" smtClean="0"/>
              <a:t>Semester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 to Exceptions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An exception is an event that disrupts normal program flow.</a:t>
            </a:r>
          </a:p>
          <a:p>
            <a:r>
              <a:t>Occurs due to errors like invalid input, divide-by-zero, missing files.</a:t>
            </a:r>
          </a:p>
          <a:p>
            <a:r>
              <a:t>Helps detect and handle runtime problems gracefully.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Basic Exceptions in Java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dirty="0"/>
              <a:t>Common built-in exceptions:</a:t>
            </a:r>
          </a:p>
          <a:p>
            <a:pPr marL="0" indent="0">
              <a:buNone/>
            </a:pPr>
            <a:r>
              <a:rPr lang="en-US" dirty="0" smtClean="0"/>
              <a:t>	</a:t>
            </a:r>
            <a:r>
              <a:rPr dirty="0" smtClean="0"/>
              <a:t>• </a:t>
            </a:r>
            <a:r>
              <a:rPr dirty="0" err="1"/>
              <a:t>ArithmeticException</a:t>
            </a:r>
            <a:endParaRPr dirty="0"/>
          </a:p>
          <a:p>
            <a:pPr marL="0" indent="0">
              <a:buNone/>
            </a:pPr>
            <a:r>
              <a:rPr lang="en-US" dirty="0" smtClean="0"/>
              <a:t>	</a:t>
            </a:r>
            <a:r>
              <a:rPr dirty="0" smtClean="0"/>
              <a:t>• </a:t>
            </a:r>
            <a:r>
              <a:rPr dirty="0" err="1"/>
              <a:t>NullPointerException</a:t>
            </a:r>
            <a:endParaRPr dirty="0"/>
          </a:p>
          <a:p>
            <a:pPr marL="0" indent="0">
              <a:buNone/>
            </a:pPr>
            <a:r>
              <a:rPr lang="en-US" dirty="0" smtClean="0"/>
              <a:t>	</a:t>
            </a:r>
            <a:r>
              <a:rPr dirty="0" smtClean="0"/>
              <a:t>• </a:t>
            </a:r>
            <a:r>
              <a:rPr dirty="0" err="1"/>
              <a:t>ArrayIndexOutOfBoundsException</a:t>
            </a:r>
            <a:endParaRPr dirty="0"/>
          </a:p>
          <a:p>
            <a:pPr marL="0" indent="0">
              <a:buNone/>
            </a:pPr>
            <a:r>
              <a:rPr lang="en-US" dirty="0" smtClean="0"/>
              <a:t>	</a:t>
            </a:r>
            <a:r>
              <a:rPr dirty="0" smtClean="0"/>
              <a:t>• </a:t>
            </a:r>
            <a:r>
              <a:rPr dirty="0" err="1"/>
              <a:t>NumberFormatException</a:t>
            </a:r>
            <a:endParaRPr dirty="0"/>
          </a:p>
          <a:p>
            <a:pPr marL="0" indent="0">
              <a:buNone/>
            </a:pPr>
            <a:r>
              <a:rPr lang="en-US" dirty="0" smtClean="0"/>
              <a:t>	</a:t>
            </a:r>
            <a:r>
              <a:rPr dirty="0" smtClean="0"/>
              <a:t>• </a:t>
            </a:r>
            <a:r>
              <a:rPr dirty="0" err="1"/>
              <a:t>IOException</a:t>
            </a:r>
            <a:endParaRPr dirty="0"/>
          </a:p>
          <a:p>
            <a:r>
              <a:rPr dirty="0"/>
              <a:t>Java categorizes exceptions into Checked, Unchecked, and Errors.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Proper Use of Exceptions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Use exceptions only for exceptional situations.</a:t>
            </a:r>
          </a:p>
          <a:p>
            <a:r>
              <a:t>Do NOT use exceptions for normal program logic.</a:t>
            </a:r>
          </a:p>
          <a:p>
            <a:r>
              <a:t>Exceptions improve code reliability and debugging clarity.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User-Defined Exceptions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dirty="0"/>
              <a:t>Custom exceptions extend Exception class.</a:t>
            </a:r>
          </a:p>
          <a:p>
            <a:r>
              <a:rPr dirty="0"/>
              <a:t>Example:</a:t>
            </a:r>
          </a:p>
          <a:p>
            <a:pPr marL="0" indent="0">
              <a:buNone/>
            </a:pPr>
            <a:r>
              <a:rPr lang="en-US" dirty="0" smtClean="0"/>
              <a:t>	</a:t>
            </a:r>
            <a:r>
              <a:rPr sz="2600" dirty="0" smtClean="0"/>
              <a:t>class </a:t>
            </a:r>
            <a:r>
              <a:rPr sz="2600" dirty="0" err="1"/>
              <a:t>AgeException</a:t>
            </a:r>
            <a:r>
              <a:rPr sz="2600" dirty="0"/>
              <a:t> extends Exception {</a:t>
            </a:r>
          </a:p>
          <a:p>
            <a:pPr marL="0" indent="0">
              <a:buNone/>
            </a:pPr>
            <a:r>
              <a:rPr lang="en-US" sz="2600" dirty="0" smtClean="0"/>
              <a:t>	</a:t>
            </a:r>
            <a:r>
              <a:rPr sz="2600" dirty="0" smtClean="0"/>
              <a:t> </a:t>
            </a:r>
            <a:r>
              <a:rPr sz="2600" dirty="0" err="1"/>
              <a:t>AgeException</a:t>
            </a:r>
            <a:r>
              <a:rPr sz="2600" dirty="0"/>
              <a:t>(String </a:t>
            </a:r>
            <a:r>
              <a:rPr sz="2600" dirty="0" err="1"/>
              <a:t>msg</a:t>
            </a:r>
            <a:r>
              <a:rPr sz="2600" dirty="0"/>
              <a:t>){ </a:t>
            </a:r>
            <a:endParaRPr lang="en-US" sz="2600" dirty="0" smtClean="0"/>
          </a:p>
          <a:p>
            <a:pPr marL="0" indent="0">
              <a:buNone/>
            </a:pPr>
            <a:r>
              <a:rPr lang="en-US" sz="2600" dirty="0"/>
              <a:t>	</a:t>
            </a:r>
            <a:r>
              <a:rPr lang="en-US" sz="2600" dirty="0" smtClean="0"/>
              <a:t>	</a:t>
            </a:r>
            <a:r>
              <a:rPr sz="2600" dirty="0" smtClean="0"/>
              <a:t>super(</a:t>
            </a:r>
            <a:r>
              <a:rPr sz="2600" dirty="0" err="1" smtClean="0"/>
              <a:t>msg</a:t>
            </a:r>
            <a:r>
              <a:rPr sz="2600" dirty="0" smtClean="0"/>
              <a:t>);</a:t>
            </a:r>
            <a:endParaRPr lang="en-US" sz="2600" dirty="0" smtClean="0"/>
          </a:p>
          <a:p>
            <a:pPr marL="0" indent="0">
              <a:buNone/>
            </a:pPr>
            <a:r>
              <a:rPr lang="en-US" sz="2600" dirty="0"/>
              <a:t>	 </a:t>
            </a:r>
            <a:r>
              <a:rPr lang="en-US" sz="2600" dirty="0" smtClean="0"/>
              <a:t> </a:t>
            </a:r>
            <a:r>
              <a:rPr sz="2600" dirty="0" smtClean="0"/>
              <a:t>} </a:t>
            </a:r>
            <a:endParaRPr lang="en-US" sz="2600" dirty="0" smtClean="0"/>
          </a:p>
          <a:p>
            <a:pPr marL="0" indent="0">
              <a:buNone/>
            </a:pPr>
            <a:r>
              <a:rPr lang="en-US" sz="2600" dirty="0"/>
              <a:t>	</a:t>
            </a:r>
            <a:r>
              <a:rPr sz="2600" dirty="0" smtClean="0"/>
              <a:t>}</a:t>
            </a:r>
            <a:endParaRPr sz="2600" dirty="0"/>
          </a:p>
          <a:p>
            <a:r>
              <a:rPr dirty="0"/>
              <a:t>Used when built-in exceptions are not enough.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Catching Exceptions: try–catch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91147"/>
            <a:ext cx="8229600" cy="4525963"/>
          </a:xfrm>
        </p:spPr>
        <p:txBody>
          <a:bodyPr>
            <a:normAutofit lnSpcReduction="10000"/>
          </a:bodyPr>
          <a:lstStyle/>
          <a:p>
            <a:r>
              <a:rPr dirty="0"/>
              <a:t>try block contains risky code.</a:t>
            </a:r>
          </a:p>
          <a:p>
            <a:r>
              <a:rPr dirty="0"/>
              <a:t>catch block handles specific exception types.</a:t>
            </a:r>
          </a:p>
          <a:p>
            <a:r>
              <a:rPr dirty="0"/>
              <a:t>Example:</a:t>
            </a:r>
          </a:p>
          <a:p>
            <a:pPr marL="0" indent="0">
              <a:buNone/>
            </a:pPr>
            <a:r>
              <a:rPr lang="en-US" dirty="0" smtClean="0"/>
              <a:t>	</a:t>
            </a:r>
            <a:r>
              <a:rPr dirty="0" smtClean="0"/>
              <a:t>try </a:t>
            </a:r>
            <a:r>
              <a:rPr dirty="0"/>
              <a:t>{ </a:t>
            </a:r>
            <a:endParaRPr lang="en-US" dirty="0" smtClean="0"/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smtClean="0"/>
              <a:t>  </a:t>
            </a:r>
            <a:r>
              <a:rPr dirty="0" err="1" smtClean="0"/>
              <a:t>int</a:t>
            </a:r>
            <a:r>
              <a:rPr dirty="0" smtClean="0"/>
              <a:t> </a:t>
            </a:r>
            <a:r>
              <a:rPr dirty="0"/>
              <a:t>x = 5/0; </a:t>
            </a:r>
            <a:endParaRPr lang="en-US" dirty="0" smtClean="0"/>
          </a:p>
          <a:p>
            <a:pPr marL="0" indent="0">
              <a:buNone/>
            </a:pPr>
            <a:r>
              <a:rPr lang="en-US" dirty="0"/>
              <a:t>	</a:t>
            </a:r>
            <a:r>
              <a:rPr dirty="0" smtClean="0"/>
              <a:t>}</a:t>
            </a:r>
            <a:r>
              <a:rPr lang="en-US" dirty="0" smtClean="0"/>
              <a:t> </a:t>
            </a:r>
            <a:r>
              <a:rPr dirty="0" smtClean="0"/>
              <a:t>catch(</a:t>
            </a:r>
            <a:r>
              <a:rPr dirty="0" err="1" smtClean="0"/>
              <a:t>ArithmeticException</a:t>
            </a:r>
            <a:r>
              <a:rPr dirty="0" smtClean="0"/>
              <a:t> </a:t>
            </a:r>
            <a:r>
              <a:rPr dirty="0"/>
              <a:t>e) </a:t>
            </a:r>
            <a:r>
              <a:rPr dirty="0" smtClean="0"/>
              <a:t>{</a:t>
            </a:r>
            <a:endParaRPr lang="en-US" dirty="0" smtClean="0"/>
          </a:p>
          <a:p>
            <a:pPr marL="0" indent="0">
              <a:buNone/>
            </a:pPr>
            <a:r>
              <a:rPr lang="en-US" dirty="0"/>
              <a:t>	 </a:t>
            </a:r>
            <a:r>
              <a:rPr lang="en-US" dirty="0" smtClean="0"/>
              <a:t> </a:t>
            </a:r>
            <a:r>
              <a:rPr dirty="0" err="1" smtClean="0"/>
              <a:t>System.out.println</a:t>
            </a:r>
            <a:r>
              <a:rPr dirty="0" smtClean="0"/>
              <a:t>(e</a:t>
            </a:r>
            <a:r>
              <a:rPr dirty="0"/>
              <a:t>); </a:t>
            </a:r>
            <a:endParaRPr lang="en-US" dirty="0" smtClean="0"/>
          </a:p>
          <a:p>
            <a:pPr marL="0" indent="0">
              <a:buNone/>
            </a:pPr>
            <a:r>
              <a:rPr lang="en-US" dirty="0"/>
              <a:t>	</a:t>
            </a:r>
            <a:r>
              <a:rPr dirty="0" smtClean="0"/>
              <a:t>}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Multiple catch Blocks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Java allows catching multiple exceptions separately.</a:t>
            </a:r>
          </a:p>
          <a:p>
            <a:r>
              <a:t>Useful when different actions are required for different exceptions.</a:t>
            </a:r>
          </a:p>
          <a:p>
            <a:r>
              <a:t>Order matters: child exceptions must be caught before parent exceptions.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Throwing Exceptions: throw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'throw' keyword is used to explicitly generate an exception.</a:t>
            </a:r>
          </a:p>
          <a:p>
            <a:r>
              <a:rPr dirty="0"/>
              <a:t>Example:</a:t>
            </a:r>
          </a:p>
          <a:p>
            <a:pPr marL="0" indent="0">
              <a:buNone/>
            </a:pPr>
            <a:r>
              <a:rPr lang="en-US" dirty="0" smtClean="0"/>
              <a:t>	</a:t>
            </a:r>
            <a:r>
              <a:rPr dirty="0" smtClean="0"/>
              <a:t>throw </a:t>
            </a:r>
            <a:r>
              <a:rPr dirty="0"/>
              <a:t>new </a:t>
            </a:r>
            <a:r>
              <a:rPr dirty="0" err="1"/>
              <a:t>ArithmeticException</a:t>
            </a:r>
            <a:r>
              <a:rPr dirty="0"/>
              <a:t>("Invalid Calculation");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Declaring Exceptions: throws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'throws' is used in method signature.</a:t>
            </a:r>
          </a:p>
          <a:p>
            <a:r>
              <a:t>Indicates method might throw an exception.</a:t>
            </a:r>
          </a:p>
          <a:p>
            <a:r>
              <a:t>Example:</a:t>
            </a:r>
          </a:p>
          <a:p>
            <a:r>
              <a:t>void readFile() throws IOException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Re-throwing Exceptions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An exception caught once can be thrown again.</a:t>
            </a:r>
          </a:p>
          <a:p>
            <a:r>
              <a:t>Used when lower-level method catches and passes error to higher level.</a:t>
            </a:r>
          </a:p>
          <a:p>
            <a:r>
              <a:t>Allows centralized exception handling.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finally Clause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finally executes whether exception occurs or not.</a:t>
            </a:r>
          </a:p>
          <a:p>
            <a:r>
              <a:rPr dirty="0"/>
              <a:t>Used for cleaning up: closing files, database connections.</a:t>
            </a:r>
          </a:p>
          <a:p>
            <a:r>
              <a:rPr dirty="0"/>
              <a:t>Example:</a:t>
            </a:r>
          </a:p>
          <a:p>
            <a:pPr marL="0" indent="0">
              <a:buNone/>
            </a:pPr>
            <a:r>
              <a:rPr dirty="0" smtClean="0"/>
              <a:t>finally </a:t>
            </a:r>
            <a:r>
              <a:rPr dirty="0"/>
              <a:t>{ </a:t>
            </a:r>
            <a:endParaRPr lang="en-US" dirty="0" smtClean="0"/>
          </a:p>
          <a:p>
            <a:pPr marL="0" indent="0">
              <a:buNone/>
            </a:pPr>
            <a:r>
              <a:rPr lang="en-US" dirty="0"/>
              <a:t>	</a:t>
            </a:r>
            <a:r>
              <a:rPr dirty="0" err="1" smtClean="0"/>
              <a:t>System.out.println</a:t>
            </a:r>
            <a:r>
              <a:rPr dirty="0"/>
              <a:t>("Cleanup completed."); </a:t>
            </a:r>
            <a:endParaRPr lang="en-US" dirty="0" smtClean="0"/>
          </a:p>
          <a:p>
            <a:pPr marL="0" indent="0">
              <a:buNone/>
            </a:pPr>
            <a:r>
              <a:rPr dirty="0" smtClean="0"/>
              <a:t>}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329</Words>
  <Application>Microsoft Office PowerPoint</Application>
  <PresentationFormat>On-screen Show (4:3)</PresentationFormat>
  <Paragraphs>60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Unit 5: Handling Errors &amp; Exceptions</vt:lpstr>
      <vt:lpstr>Introduction to Exceptions</vt:lpstr>
      <vt:lpstr>Basic Exceptions in Java</vt:lpstr>
      <vt:lpstr>Proper Use of Exceptions</vt:lpstr>
      <vt:lpstr>User-Defined Exceptions</vt:lpstr>
      <vt:lpstr>Catching Exceptions: try–catch</vt:lpstr>
      <vt:lpstr>Multiple catch Blocks</vt:lpstr>
      <vt:lpstr>Throwing Exceptions: throw</vt:lpstr>
      <vt:lpstr>Declaring Exceptions: throws</vt:lpstr>
      <vt:lpstr>Re-throwing Exceptions</vt:lpstr>
      <vt:lpstr>finally Clause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5: Handling Errors &amp; Exceptions</dc:title>
  <dc:subject/>
  <dc:creator/>
  <cp:keywords/>
  <dc:description>generated using python-pptx</dc:description>
  <cp:lastModifiedBy>TheParajanya</cp:lastModifiedBy>
  <cp:revision>7</cp:revision>
  <dcterms:created xsi:type="dcterms:W3CDTF">2013-01-27T09:14:16Z</dcterms:created>
  <dcterms:modified xsi:type="dcterms:W3CDTF">2025-12-18T00:32:06Z</dcterms:modified>
  <cp:category/>
</cp:coreProperties>
</file>