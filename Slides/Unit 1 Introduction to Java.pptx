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534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Java?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Java is a </a:t>
            </a:r>
            <a:r>
              <a:rPr dirty="0" smtClean="0"/>
              <a:t>high-level, class based, object-oriented </a:t>
            </a:r>
            <a:r>
              <a:rPr dirty="0"/>
              <a:t>programming language designed to have as few implementation dependencies as possible. </a:t>
            </a:r>
          </a:p>
          <a:p>
            <a:r>
              <a:rPr dirty="0"/>
              <a:t>It follows the principle of 'Write Once, Run Anywhere', meaning compiled Java code can run on any system with a JVM. </a:t>
            </a:r>
          </a:p>
          <a:p>
            <a:r>
              <a:rPr dirty="0"/>
              <a:t>Java is widely used in enterprise systems, mobile applications, web development, and cloud platforms.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Java has several core features:</a:t>
            </a:r>
          </a:p>
          <a:p>
            <a:r>
              <a:rPr dirty="0"/>
              <a:t>1. </a:t>
            </a:r>
            <a:r>
              <a:rPr b="1" dirty="0" smtClean="0"/>
              <a:t>Platform Independent </a:t>
            </a:r>
            <a:r>
              <a:rPr dirty="0"/>
              <a:t>– Programs run across OS due to JVM.</a:t>
            </a:r>
          </a:p>
          <a:p>
            <a:r>
              <a:rPr dirty="0"/>
              <a:t>2.</a:t>
            </a:r>
            <a:r>
              <a:rPr b="1" dirty="0"/>
              <a:t> </a:t>
            </a:r>
            <a:r>
              <a:rPr b="1" dirty="0" smtClean="0"/>
              <a:t>Object-oriented </a:t>
            </a:r>
            <a:r>
              <a:rPr dirty="0"/>
              <a:t>– Supports modular and reusable design through OOP principles.</a:t>
            </a:r>
          </a:p>
          <a:p>
            <a:r>
              <a:rPr dirty="0"/>
              <a:t>3. </a:t>
            </a:r>
            <a:r>
              <a:rPr b="1" dirty="0" smtClean="0"/>
              <a:t>Robust </a:t>
            </a:r>
            <a:r>
              <a:rPr b="1" dirty="0"/>
              <a:t>&amp; </a:t>
            </a:r>
            <a:r>
              <a:rPr b="1" dirty="0" smtClean="0"/>
              <a:t>Secure </a:t>
            </a:r>
            <a:r>
              <a:rPr dirty="0"/>
              <a:t>– Automatic memory management, exception handling, and security models.</a:t>
            </a:r>
          </a:p>
          <a:p>
            <a:r>
              <a:rPr dirty="0"/>
              <a:t>4.</a:t>
            </a:r>
            <a:r>
              <a:rPr b="1" dirty="0"/>
              <a:t> </a:t>
            </a:r>
            <a:r>
              <a:rPr b="1" dirty="0" smtClean="0"/>
              <a:t>Multithreading </a:t>
            </a:r>
            <a:r>
              <a:rPr dirty="0"/>
              <a:t>– Supports running multiple tasks simultaneously.</a:t>
            </a:r>
          </a:p>
          <a:p>
            <a:r>
              <a:rPr dirty="0"/>
              <a:t>5. </a:t>
            </a:r>
            <a:r>
              <a:rPr b="1" dirty="0" smtClean="0"/>
              <a:t>Rich API </a:t>
            </a:r>
            <a:r>
              <a:rPr dirty="0"/>
              <a:t>– Offers extensive </a:t>
            </a:r>
            <a:r>
              <a:rPr dirty="0" err="1" smtClean="0"/>
              <a:t>builtin</a:t>
            </a:r>
            <a:r>
              <a:rPr dirty="0" smtClean="0"/>
              <a:t> </a:t>
            </a:r>
            <a:r>
              <a:rPr dirty="0"/>
              <a:t>libraries for networking, GUI, utilities,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Java was developed by </a:t>
            </a:r>
            <a:r>
              <a:rPr b="1" dirty="0"/>
              <a:t>James Gosling </a:t>
            </a:r>
            <a:r>
              <a:rPr dirty="0"/>
              <a:t>at Sun Microsystems in 1991 under the project name Oak. </a:t>
            </a:r>
          </a:p>
          <a:p>
            <a:r>
              <a:rPr dirty="0"/>
              <a:t>It was officially released in 1995. The language gained rapid popularity for its portability and browser applets. </a:t>
            </a:r>
          </a:p>
          <a:p>
            <a:r>
              <a:rPr dirty="0"/>
              <a:t>After Oracle acquired Sun in 2009, Java continued evolving with major updates such as Lambda expressions (Java 8), </a:t>
            </a:r>
          </a:p>
          <a:p>
            <a:r>
              <a:rPr dirty="0"/>
              <a:t>module system (Java 9), and </a:t>
            </a:r>
            <a:r>
              <a:rPr dirty="0" err="1" smtClean="0"/>
              <a:t>longterm</a:t>
            </a:r>
            <a:r>
              <a:rPr dirty="0" smtClean="0"/>
              <a:t> </a:t>
            </a:r>
            <a:r>
              <a:rPr dirty="0"/>
              <a:t>support versions like Java 17 and Java 21.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and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Java became significant during the rise of the Internet because it allowed secure and interactive web components. </a:t>
            </a:r>
          </a:p>
          <a:p>
            <a:r>
              <a:rPr dirty="0"/>
              <a:t>Originally designed for small devices, Java's architecture suited </a:t>
            </a:r>
            <a:r>
              <a:rPr dirty="0" smtClean="0"/>
              <a:t>web based </a:t>
            </a:r>
            <a:r>
              <a:rPr dirty="0"/>
              <a:t>environments. </a:t>
            </a:r>
          </a:p>
          <a:p>
            <a:r>
              <a:rPr dirty="0"/>
              <a:t>Its security model allowed downloading and running code from remote servers with minimal risk. </a:t>
            </a:r>
          </a:p>
          <a:p>
            <a:r>
              <a:rPr dirty="0"/>
              <a:t>Today Java still powers </a:t>
            </a:r>
            <a:r>
              <a:rPr dirty="0" smtClean="0"/>
              <a:t>server side </a:t>
            </a:r>
            <a:r>
              <a:rPr dirty="0"/>
              <a:t>applications, APIs, and distributed systems across the web.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in Modern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Java dominates </a:t>
            </a:r>
            <a:r>
              <a:rPr dirty="0" smtClean="0"/>
              <a:t>enterprise level </a:t>
            </a:r>
            <a:r>
              <a:rPr dirty="0"/>
              <a:t>applications due to its stability and security. </a:t>
            </a:r>
          </a:p>
          <a:p>
            <a:r>
              <a:rPr dirty="0"/>
              <a:t>Industries such as banking, healthcare, insurance, and government rely heavily on </a:t>
            </a:r>
            <a:r>
              <a:rPr dirty="0" smtClean="0"/>
              <a:t>Java based </a:t>
            </a:r>
            <a:r>
              <a:rPr dirty="0"/>
              <a:t>solutions. </a:t>
            </a:r>
          </a:p>
          <a:p>
            <a:r>
              <a:rPr dirty="0"/>
              <a:t>Android applications use Java as the foundational programming language. </a:t>
            </a:r>
          </a:p>
          <a:p>
            <a:r>
              <a:rPr dirty="0"/>
              <a:t>Java also plays a major role in cloud technologies (AWS, Azure, GCP), and big data ecosystems like Hadoop.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applications are standalone programs that execute using the </a:t>
            </a:r>
            <a:r>
              <a:rPr b="1" dirty="0"/>
              <a:t>Java Virtual Machine</a:t>
            </a:r>
            <a:r>
              <a:rPr dirty="0"/>
              <a:t>. </a:t>
            </a:r>
          </a:p>
          <a:p>
            <a:r>
              <a:rPr dirty="0"/>
              <a:t>They can include desktop software, automation tools, </a:t>
            </a:r>
            <a:r>
              <a:rPr dirty="0" smtClean="0"/>
              <a:t>server side </a:t>
            </a:r>
            <a:r>
              <a:rPr dirty="0"/>
              <a:t>applications, gaming engines, and enterprise systems. </a:t>
            </a:r>
          </a:p>
          <a:p>
            <a:r>
              <a:rPr dirty="0"/>
              <a:t>A Java application contains classes, objects, and a 'main' method, which acts as the entry point of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Applets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Java Applets were small programs embedded in web browsers using a special plugin. </a:t>
            </a:r>
          </a:p>
          <a:p>
            <a:r>
              <a:rPr dirty="0"/>
              <a:t>They allowed </a:t>
            </a:r>
            <a:r>
              <a:rPr b="1" dirty="0" smtClean="0"/>
              <a:t>interactive</a:t>
            </a:r>
            <a:r>
              <a:rPr dirty="0" smtClean="0"/>
              <a:t> </a:t>
            </a:r>
            <a:r>
              <a:rPr dirty="0"/>
              <a:t>content during the early web era. </a:t>
            </a:r>
          </a:p>
          <a:p>
            <a:r>
              <a:rPr dirty="0"/>
              <a:t>Due to increasing security concerns and the rise of JavaScript, applets were deprecated and removed from modern browsers. </a:t>
            </a:r>
          </a:p>
          <a:p>
            <a:r>
              <a:rPr dirty="0"/>
              <a:t>Applets are now primarily of historical importance.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Virtual Machine (JVM)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The JVM is the execution environment for </a:t>
            </a:r>
            <a:r>
              <a:rPr b="1" dirty="0"/>
              <a:t>Java bytecode</a:t>
            </a:r>
            <a:r>
              <a:rPr dirty="0"/>
              <a:t>. </a:t>
            </a:r>
          </a:p>
          <a:p>
            <a:r>
              <a:rPr dirty="0"/>
              <a:t>It loads classes, verifies them for security, allocates memory, and manages program execution. </a:t>
            </a:r>
          </a:p>
          <a:p>
            <a:r>
              <a:rPr dirty="0"/>
              <a:t>By isolating the program from hardware details, the JVM ensures platform independence. </a:t>
            </a:r>
          </a:p>
          <a:p>
            <a:r>
              <a:rPr dirty="0"/>
              <a:t>The JVM also contains </a:t>
            </a:r>
            <a:r>
              <a:rPr dirty="0" err="1" smtClean="0"/>
              <a:t>JustInTime</a:t>
            </a:r>
            <a:r>
              <a:rPr dirty="0" smtClean="0"/>
              <a:t> </a:t>
            </a:r>
            <a:r>
              <a:rPr dirty="0"/>
              <a:t>(JIT) compilers that improve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Bytecode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Bytecode is the intermediate, </a:t>
            </a:r>
            <a:r>
              <a:rPr dirty="0" smtClean="0"/>
              <a:t>machine independent </a:t>
            </a:r>
            <a:r>
              <a:rPr dirty="0"/>
              <a:t>code generated by the Java compiler. </a:t>
            </a:r>
          </a:p>
          <a:p>
            <a:r>
              <a:rPr dirty="0"/>
              <a:t>It is stored in </a:t>
            </a:r>
            <a:r>
              <a:rPr b="1" dirty="0"/>
              <a:t>.class </a:t>
            </a:r>
            <a:r>
              <a:rPr dirty="0"/>
              <a:t>files and executed by the JVM. </a:t>
            </a:r>
          </a:p>
          <a:p>
            <a:r>
              <a:rPr dirty="0"/>
              <a:t>Bytecode ensures that Java programs do not need recompiling for different operating systems. </a:t>
            </a:r>
          </a:p>
          <a:p>
            <a:r>
              <a:rPr dirty="0"/>
              <a:t>Because bytecode is not native machine code, it cannot run directly without a JVM.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Procedure Oriented </a:t>
            </a:r>
            <a:r>
              <a:rPr dirty="0"/>
              <a:t>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smtClean="0"/>
              <a:t>Procedure Oriented </a:t>
            </a:r>
            <a:r>
              <a:rPr dirty="0"/>
              <a:t>Programming (POP) focuses on functions or procedures to operate on data. </a:t>
            </a:r>
          </a:p>
          <a:p>
            <a:r>
              <a:rPr dirty="0"/>
              <a:t>In POP languages like C, programs are built around </a:t>
            </a:r>
            <a:r>
              <a:rPr dirty="0" smtClean="0"/>
              <a:t>step-by-step </a:t>
            </a:r>
            <a:r>
              <a:rPr dirty="0"/>
              <a:t>instructions. </a:t>
            </a:r>
          </a:p>
          <a:p>
            <a:r>
              <a:rPr dirty="0"/>
              <a:t>However, POP struggles with large systems because global variables may be accessed anywhere, reducing data security and modularity.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Object-oriented </a:t>
            </a:r>
            <a:r>
              <a:rPr dirty="0"/>
              <a:t>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smtClean="0"/>
              <a:t>Object-oriented </a:t>
            </a:r>
            <a:r>
              <a:rPr dirty="0"/>
              <a:t>Programming (OOP) structures programs using objects and classes. </a:t>
            </a:r>
          </a:p>
          <a:p>
            <a:r>
              <a:rPr dirty="0"/>
              <a:t>It enhances modularity, reusability, and maintainability. </a:t>
            </a:r>
          </a:p>
          <a:p>
            <a:r>
              <a:rPr dirty="0"/>
              <a:t>Core principles include:</a:t>
            </a:r>
          </a:p>
          <a:p>
            <a:pPr lvl="1"/>
            <a:r>
              <a:rPr dirty="0" smtClean="0"/>
              <a:t> Encapsulation </a:t>
            </a:r>
            <a:r>
              <a:rPr dirty="0"/>
              <a:t>(data hiding)</a:t>
            </a:r>
          </a:p>
          <a:p>
            <a:pPr lvl="1"/>
            <a:r>
              <a:rPr dirty="0" smtClean="0"/>
              <a:t> Inheritance </a:t>
            </a:r>
            <a:r>
              <a:rPr dirty="0"/>
              <a:t>(code reuse)</a:t>
            </a:r>
          </a:p>
          <a:p>
            <a:pPr lvl="1"/>
            <a:r>
              <a:rPr dirty="0" smtClean="0"/>
              <a:t> Polymorphism </a:t>
            </a:r>
            <a:r>
              <a:rPr dirty="0"/>
              <a:t>(multiple forms)</a:t>
            </a:r>
          </a:p>
          <a:p>
            <a:pPr lvl="1"/>
            <a:r>
              <a:rPr dirty="0" smtClean="0"/>
              <a:t> Abstraction </a:t>
            </a:r>
            <a:r>
              <a:rPr dirty="0"/>
              <a:t>(hide complexity)</a:t>
            </a:r>
          </a:p>
          <a:p>
            <a:r>
              <a:rPr dirty="0"/>
              <a:t>Java is fully OOP, making it ideal for large and complex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Java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To begin Java development:</a:t>
            </a:r>
          </a:p>
          <a:p>
            <a:r>
              <a:rPr dirty="0"/>
              <a:t>1. Install the Java Development Kit (JDK).</a:t>
            </a:r>
          </a:p>
          <a:p>
            <a:r>
              <a:rPr dirty="0"/>
              <a:t>2. Set PATH and JAVA_HOME environment variables.</a:t>
            </a:r>
          </a:p>
          <a:p>
            <a:r>
              <a:rPr dirty="0"/>
              <a:t>3. Verify installation using 'java </a:t>
            </a:r>
            <a:r>
              <a:rPr dirty="0" smtClean="0"/>
              <a:t>version</a:t>
            </a:r>
            <a:r>
              <a:rPr dirty="0"/>
              <a:t>'.</a:t>
            </a:r>
          </a:p>
          <a:p>
            <a:r>
              <a:rPr dirty="0"/>
              <a:t>4. Use an IDE such as IntelliJ IDEA, Eclipse, or VS Code.</a:t>
            </a:r>
          </a:p>
          <a:p>
            <a:r>
              <a:rPr dirty="0"/>
              <a:t>This setup helps write, compile, debug, and run Java programs efficiently.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a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 Java program must be written inside a class. </a:t>
            </a:r>
          </a:p>
          <a:p>
            <a:r>
              <a:rPr dirty="0"/>
              <a:t>The main() method acts as the starting point for execution. </a:t>
            </a:r>
          </a:p>
          <a:p>
            <a:r>
              <a:rPr dirty="0"/>
              <a:t>File naming is important—the filename must match the public class name. </a:t>
            </a:r>
          </a:p>
          <a:p>
            <a:r>
              <a:rPr dirty="0"/>
              <a:t>Example:</a:t>
            </a:r>
          </a:p>
          <a:p>
            <a:pPr marL="400050" lvl="1" indent="0">
              <a:buNone/>
            </a:pPr>
            <a:r>
              <a:rPr dirty="0"/>
              <a:t>public class Hello </a:t>
            </a:r>
            <a:endParaRPr lang="en-US" dirty="0" smtClean="0"/>
          </a:p>
          <a:p>
            <a:pPr marL="400050" lvl="1" indent="0">
              <a:buNone/>
            </a:pPr>
            <a:r>
              <a:rPr dirty="0" smtClean="0"/>
              <a:t>{</a:t>
            </a:r>
            <a:endParaRPr dirty="0"/>
          </a:p>
          <a:p>
            <a:pPr marL="400050" lvl="1" indent="0">
              <a:buNone/>
            </a:pP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400050" lvl="1" indent="0">
              <a:buNone/>
            </a:pPr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("Hello Java");</a:t>
            </a:r>
          </a:p>
          <a:p>
            <a:pPr marL="400050" lvl="1" indent="0">
              <a:buNone/>
            </a:pPr>
            <a:r>
              <a:rPr dirty="0"/>
              <a:t>    }</a:t>
            </a:r>
          </a:p>
          <a:p>
            <a:pPr marL="400050" lvl="1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Compiling a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source code (filename.java) is compiled using the '</a:t>
            </a:r>
            <a:r>
              <a:rPr b="1" dirty="0" err="1"/>
              <a:t>javac</a:t>
            </a:r>
            <a:r>
              <a:rPr dirty="0"/>
              <a:t>' command. </a:t>
            </a:r>
          </a:p>
          <a:p>
            <a:r>
              <a:rPr dirty="0"/>
              <a:t>The compiler checks for errors and generates a .</a:t>
            </a:r>
            <a:r>
              <a:rPr b="1" dirty="0"/>
              <a:t>class</a:t>
            </a:r>
            <a:r>
              <a:rPr dirty="0"/>
              <a:t> file containing bytecode. </a:t>
            </a:r>
          </a:p>
          <a:p>
            <a:r>
              <a:rPr dirty="0"/>
              <a:t>This file is portable and can be executed on any machine with a JVM.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a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run a Java program, use the 'java </a:t>
            </a:r>
            <a:r>
              <a:rPr dirty="0" err="1"/>
              <a:t>ClassName</a:t>
            </a:r>
            <a:r>
              <a:rPr dirty="0"/>
              <a:t>' command. </a:t>
            </a:r>
          </a:p>
          <a:p>
            <a:r>
              <a:rPr dirty="0"/>
              <a:t>The JVM reads the .class file, loads necessary libraries, and executes the bytecode. </a:t>
            </a:r>
          </a:p>
          <a:p>
            <a:r>
              <a:rPr dirty="0"/>
              <a:t>Execution flow is: Source Code → Compiler → Bytecode → JVM →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Java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Students often encounter these errors: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b="1" dirty="0" smtClean="0"/>
              <a:t>Syntax errors</a:t>
            </a:r>
            <a:r>
              <a:rPr dirty="0" smtClean="0"/>
              <a:t> </a:t>
            </a:r>
            <a:r>
              <a:rPr dirty="0"/>
              <a:t>such as missing semicolons or braces.</a:t>
            </a:r>
          </a:p>
          <a:p>
            <a:r>
              <a:rPr dirty="0" smtClean="0"/>
              <a:t> Compilation errors </a:t>
            </a:r>
            <a:r>
              <a:rPr dirty="0"/>
              <a:t>due to incorrect class names.</a:t>
            </a:r>
          </a:p>
          <a:p>
            <a:r>
              <a:rPr dirty="0" smtClean="0"/>
              <a:t> Runtime errors </a:t>
            </a:r>
            <a:r>
              <a:rPr dirty="0"/>
              <a:t>like division by zero or invalid input.</a:t>
            </a:r>
          </a:p>
          <a:p>
            <a:r>
              <a:rPr dirty="0" smtClean="0"/>
              <a:t> Logical errors </a:t>
            </a:r>
            <a:r>
              <a:rPr dirty="0"/>
              <a:t>where output is incorrect despite no error messages.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Java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Debugging involves finding and fixing issues using:</a:t>
            </a:r>
          </a:p>
          <a:p>
            <a:pPr lvl="1"/>
            <a:r>
              <a:rPr dirty="0" smtClean="0"/>
              <a:t> </a:t>
            </a:r>
            <a:r>
              <a:rPr dirty="0"/>
              <a:t>Print statements</a:t>
            </a:r>
          </a:p>
          <a:p>
            <a:pPr lvl="1"/>
            <a:r>
              <a:rPr dirty="0" smtClean="0"/>
              <a:t> </a:t>
            </a:r>
            <a:r>
              <a:rPr dirty="0"/>
              <a:t>Error messages</a:t>
            </a:r>
          </a:p>
          <a:p>
            <a:pPr lvl="1"/>
            <a:r>
              <a:rPr dirty="0" smtClean="0"/>
              <a:t> </a:t>
            </a:r>
            <a:r>
              <a:rPr dirty="0"/>
              <a:t>IDE breakpoints</a:t>
            </a:r>
          </a:p>
          <a:p>
            <a:pPr lvl="1"/>
            <a:r>
              <a:rPr dirty="0" smtClean="0"/>
              <a:t> </a:t>
            </a:r>
            <a:r>
              <a:rPr dirty="0"/>
              <a:t>Variable inspection</a:t>
            </a:r>
          </a:p>
          <a:p>
            <a:r>
              <a:rPr dirty="0"/>
              <a:t>Debugging is a key skill for </a:t>
            </a:r>
            <a:r>
              <a:rPr dirty="0" err="1" smtClean="0"/>
              <a:t>problemsolving</a:t>
            </a:r>
            <a:r>
              <a:rPr dirty="0" smtClean="0"/>
              <a:t> </a:t>
            </a:r>
            <a:r>
              <a:rPr dirty="0"/>
              <a:t>in programming.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Hands-on </a:t>
            </a:r>
            <a:r>
              <a:rPr dirty="0"/>
              <a:t>Java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By writing, compiling, and executing a simple program, students understand Java’s flow. </a:t>
            </a:r>
          </a:p>
          <a:p>
            <a:r>
              <a:rPr dirty="0"/>
              <a:t>They should practice using both CLI and IDE.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1046</Words>
  <Application>Microsoft Office PowerPoint</Application>
  <PresentationFormat>On-screen Show (4:3)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What is Java?</vt:lpstr>
      <vt:lpstr>Key Features of Java</vt:lpstr>
      <vt:lpstr>History of Java</vt:lpstr>
      <vt:lpstr>Java and the Internet</vt:lpstr>
      <vt:lpstr>Java in Modern IT</vt:lpstr>
      <vt:lpstr>Java Applications</vt:lpstr>
      <vt:lpstr>Java Applets</vt:lpstr>
      <vt:lpstr>Java Virtual Machine (JVM)</vt:lpstr>
      <vt:lpstr>Understanding Bytecode</vt:lpstr>
      <vt:lpstr>Procedure Oriented Programming</vt:lpstr>
      <vt:lpstr>Object-oriented Programming</vt:lpstr>
      <vt:lpstr>Setting Up Java Environment</vt:lpstr>
      <vt:lpstr>Writing a Java Program</vt:lpstr>
      <vt:lpstr>Compiling a Java Program</vt:lpstr>
      <vt:lpstr>Running a Java Program</vt:lpstr>
      <vt:lpstr>Common Java Errors</vt:lpstr>
      <vt:lpstr>Debugging Java Programs</vt:lpstr>
      <vt:lpstr>Hands-on Java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Java?</dc:title>
  <dc:subject/>
  <dc:creator/>
  <cp:keywords/>
  <dc:description>generated using python-pptx</dc:description>
  <cp:lastModifiedBy>TheParajanya</cp:lastModifiedBy>
  <cp:revision>2</cp:revision>
  <dcterms:created xsi:type="dcterms:W3CDTF">2013-01-27T09:14:16Z</dcterms:created>
  <dcterms:modified xsi:type="dcterms:W3CDTF">2025-11-17T23:10:32Z</dcterms:modified>
  <cp:category/>
</cp:coreProperties>
</file>